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8"/>
  </p:notesMasterIdLst>
  <p:handoutMasterIdLst>
    <p:handoutMasterId r:id="rId39"/>
  </p:handoutMasterIdLst>
  <p:sldIdLst>
    <p:sldId id="312" r:id="rId5"/>
    <p:sldId id="323" r:id="rId6"/>
    <p:sldId id="334" r:id="rId7"/>
    <p:sldId id="333" r:id="rId8"/>
    <p:sldId id="314" r:id="rId9"/>
    <p:sldId id="332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5" r:id="rId19"/>
    <p:sldId id="336" r:id="rId20"/>
    <p:sldId id="338" r:id="rId21"/>
    <p:sldId id="337" r:id="rId22"/>
    <p:sldId id="339" r:id="rId23"/>
    <p:sldId id="340" r:id="rId24"/>
    <p:sldId id="341" r:id="rId25"/>
    <p:sldId id="342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91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9D0E-DC81-929C-C3B4-B204F34F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52D39-F01B-6D94-5BF5-275F4DA85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FD715-29C5-4D5E-EE81-88456DA21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59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6C7E-5B14-533D-6F13-B5C8CD8E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B64F2-189F-72B2-03AA-DA17FE3A9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E515B-8082-8900-8B09-9307B87FD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96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DBB7-6298-5ED8-E433-14B3C498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793FC-04F3-5A2C-0636-C46F77F72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D104C-CCF4-3A7B-F39C-691BFC17F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28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1893-47EE-1F4C-6ABB-47E2E8B9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05113-0734-AF69-60D7-CD2EBFF73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F1A9-8F83-E6A8-4102-74E2FE15E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912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C897-6155-DEC5-5645-0665616A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0C3C5-6C1A-1463-3567-CC87A6432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1A9C7-FEA5-84AC-3CE2-4C4ACEAEA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938E-5C40-E4EE-ED44-192FC838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386B3-6FC8-E738-42B6-5945A3486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C86C5-DE64-A3E4-D15A-7A1279B1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819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2824-046C-2183-EDBB-347648D0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5D93C-E617-C578-8FB8-A9337B100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D0405-7AC7-7443-186C-0F610CE20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75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05B5-F0E6-9EA6-6916-00B244D3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AAF6E-C06B-E367-3FCB-F5AB9C5D3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1DC20-5525-BA99-9E28-B6B20372C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60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4F62-7947-59B2-382B-074F9FEB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A5F65-1ED5-7B81-8BE6-501F1C1E6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5CBC5-D5E0-5518-13E1-8C8E8DEC6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450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91A0-EBA5-5888-0A83-37A16E997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8B82E-76E3-7A9E-5F66-15410638E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E213B-3BBF-0ED6-F066-DED3B72F3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991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D0E9-FF9E-A0BC-F4DD-845D8FC0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43015-1EBD-7375-9CFF-ACF8C9C92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DF1AF-D949-6B97-9AAD-EDC29EC5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153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27F1-2C35-2D8C-2AD1-DE0575DC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42EF3-E206-32F3-F890-9FD47C2F6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5C45D-A499-8CC9-CB19-C6B961C05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8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ề Bản chiế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vi-VN" dirty="0">
                <a:latin typeface="+mn-lt"/>
              </a:rPr>
              <a:t>Phân tích và thiết kế phần mềm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8E633-2216-C32A-7D6E-E283F6B2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E8A3-C277-F478-47E1-D24A4255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969" y="2168891"/>
            <a:ext cx="7043617" cy="2520217"/>
          </a:xfrm>
        </p:spPr>
        <p:txBody>
          <a:bodyPr/>
          <a:lstStyle/>
          <a:p>
            <a:r>
              <a:rPr lang="vi-VN" dirty="0">
                <a:latin typeface="+mn-lt"/>
              </a:rPr>
              <a:t>Sơ ĐỒ KIẾN TRÚC HỆ THỐNG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023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0664-E550-1CB5-9858-DBBA0199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8BB50C-1D6C-AB39-7003-847EB9635C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Hình ảnh 4" descr="Ảnh có chứa văn bản, biểu đồ, Kế hoạch, Bản vẽ kỹ thuật&#10;&#10;Nội dung do AI tạo ra có thể không chính xác.">
            <a:extLst>
              <a:ext uri="{FF2B5EF4-FFF2-40B4-BE49-F238E27FC236}">
                <a16:creationId xmlns:a16="http://schemas.microsoft.com/office/drawing/2014/main" id="{8A8AFBBE-99A4-38F9-CABE-85B886D88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0" y="457200"/>
            <a:ext cx="8673040" cy="638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CE4A-456F-FAD4-E293-D99C8A7A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2508F-CD7F-70FB-FC70-705F6342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969" y="2168891"/>
            <a:ext cx="7043617" cy="2520217"/>
          </a:xfrm>
        </p:spPr>
        <p:txBody>
          <a:bodyPr/>
          <a:lstStyle/>
          <a:p>
            <a:r>
              <a:rPr lang="vi-VN" dirty="0">
                <a:latin typeface="+mn-lt"/>
              </a:rPr>
              <a:t>Sơ đồ </a:t>
            </a:r>
            <a:r>
              <a:rPr lang="vi-VN" dirty="0" err="1">
                <a:latin typeface="+mn-lt"/>
              </a:rPr>
              <a:t>Use</a:t>
            </a:r>
            <a:r>
              <a:rPr lang="vi-VN" dirty="0">
                <a:latin typeface="+mn-lt"/>
              </a:rPr>
              <a:t> </a:t>
            </a:r>
            <a:r>
              <a:rPr lang="vi-VN" dirty="0" err="1">
                <a:latin typeface="+mn-lt"/>
              </a:rPr>
              <a:t>Case</a:t>
            </a:r>
            <a:r>
              <a:rPr lang="vi-VN" dirty="0">
                <a:latin typeface="+mn-lt"/>
              </a:rPr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76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291" y="2391873"/>
            <a:ext cx="6565944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Sơ đồ </a:t>
            </a:r>
            <a:r>
              <a:rPr lang="vi-VN" dirty="0" err="1">
                <a:latin typeface="+mn-lt"/>
              </a:rPr>
              <a:t>Use</a:t>
            </a:r>
            <a:r>
              <a:rPr lang="vi-VN" dirty="0">
                <a:latin typeface="+mn-lt"/>
              </a:rPr>
              <a:t> </a:t>
            </a:r>
            <a:r>
              <a:rPr lang="vi-VN" dirty="0" err="1">
                <a:latin typeface="+mn-lt"/>
              </a:rPr>
              <a:t>Case</a:t>
            </a:r>
            <a:r>
              <a:rPr lang="vi-VN" dirty="0">
                <a:latin typeface="+mn-lt"/>
              </a:rPr>
              <a:t> tổng quan hệ thống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Hình ảnh 11" descr="Ảnh có chứa biểu đồ, hàng, văn bản, Song song&#10;&#10;Nội dung do AI tạo ra có thể không chính xác.">
            <a:extLst>
              <a:ext uri="{FF2B5EF4-FFF2-40B4-BE49-F238E27FC236}">
                <a16:creationId xmlns:a16="http://schemas.microsoft.com/office/drawing/2014/main" id="{F9B8D6F7-50F3-73F2-2C6A-963BA8C2A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420776"/>
            <a:ext cx="5066791" cy="643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364E-0101-21F5-C1CE-90B4BC05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1A23-388D-912F-7D18-EB53B829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969" y="2168891"/>
            <a:ext cx="7043617" cy="2520217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3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B976-33E9-FAB5-DFC3-24B027D6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7265-9C0F-2947-B15A-69E68955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291" y="2391873"/>
            <a:ext cx="4479029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chức năng đăng ký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120A92-D1B6-69D2-8D74-C3B5BCE81F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7" descr="PlantUML Diagram">
            <a:extLst>
              <a:ext uri="{FF2B5EF4-FFF2-40B4-BE49-F238E27FC236}">
                <a16:creationId xmlns:a16="http://schemas.microsoft.com/office/drawing/2014/main" id="{48E3F5BB-CE3D-CE53-0B27-0416A1AEF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580" y="928688"/>
            <a:ext cx="6172200" cy="5479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30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791A-C4D0-68AC-F11C-F1B9DEA3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15A8-B8AF-D1FD-3375-01E45F49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291" y="2391873"/>
            <a:ext cx="4479029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chức năng đăng Nhập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2E4E38-42B6-171F-CAF2-CF557507B8E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7" descr="PlantUML Diagram">
            <a:extLst>
              <a:ext uri="{FF2B5EF4-FFF2-40B4-BE49-F238E27FC236}">
                <a16:creationId xmlns:a16="http://schemas.microsoft.com/office/drawing/2014/main" id="{9382860A-04AE-04C7-1FCD-B6980AF87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899679"/>
            <a:ext cx="6172200" cy="5479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26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ECE8-76C6-0202-9104-4AFA615E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8AF4-F560-D0D0-C0B3-90E609513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291" y="2391873"/>
            <a:ext cx="5317229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chức năng đăng xuất</a:t>
            </a:r>
            <a:br>
              <a:rPr lang="vi-VN" dirty="0">
                <a:latin typeface="+mn-lt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4DB400-0E56-7423-F625-2EBF48C0E4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6" descr="PlantUML Diagram">
            <a:extLst>
              <a:ext uri="{FF2B5EF4-FFF2-40B4-BE49-F238E27FC236}">
                <a16:creationId xmlns:a16="http://schemas.microsoft.com/office/drawing/2014/main" id="{47D8E072-BC14-38A5-6701-00A715E00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77884"/>
            <a:ext cx="5160010" cy="3723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582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EE93-B01E-A16C-6D79-1BCD59A5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63E7-0C28-A7E2-B639-FEAAD7D3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13" y="2421546"/>
            <a:ext cx="5317229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chức năng xem và tìm kiếm sản phẩm</a:t>
            </a:r>
            <a:br>
              <a:rPr lang="vi-VN" dirty="0">
                <a:latin typeface="+mn-lt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E65C00-D2C6-DD1A-31D0-1B25C1496A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5" descr="PlantUML Diagram">
            <a:extLst>
              <a:ext uri="{FF2B5EF4-FFF2-40B4-BE49-F238E27FC236}">
                <a16:creationId xmlns:a16="http://schemas.microsoft.com/office/drawing/2014/main" id="{1FA8BBE2-A8F0-4F6D-E7D2-4C79A4027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142" y="457200"/>
            <a:ext cx="5605145" cy="6331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447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9ED0-BCB8-35B4-2928-CAB0C6F9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785E-4383-9AF4-9EC5-055F20290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13" y="2421546"/>
            <a:ext cx="5317229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quản lý giỏ hàng</a:t>
            </a:r>
            <a:br>
              <a:rPr lang="vi-VN" dirty="0">
                <a:latin typeface="+mn-lt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D96E50-2DDF-2012-8368-882E878228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3" descr="PlantUML Diagram">
            <a:extLst>
              <a:ext uri="{FF2B5EF4-FFF2-40B4-BE49-F238E27FC236}">
                <a16:creationId xmlns:a16="http://schemas.microsoft.com/office/drawing/2014/main" id="{E1CAA9BE-9FE5-8BD2-DFAB-46A76B2D8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560" y="457200"/>
            <a:ext cx="4056015" cy="640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9301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CF9C-C5AA-D60A-1CFA-089A5AF7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6C1B-D3CD-D889-FC39-EE85CF0A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593" y="2741586"/>
            <a:ext cx="3826931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chức năng quản lí người dùng</a:t>
            </a:r>
            <a:br>
              <a:rPr lang="vi-VN" dirty="0">
                <a:latin typeface="+mn-lt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37230-E5F9-AC61-14BD-A3CBFD9E17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1" descr="A diagram of a activity diagram&#10;&#10;AI-generated content may be incorrect.">
            <a:extLst>
              <a:ext uri="{FF2B5EF4-FFF2-40B4-BE49-F238E27FC236}">
                <a16:creationId xmlns:a16="http://schemas.microsoft.com/office/drawing/2014/main" id="{501D0BAD-AEA7-8518-DA3A-8A4FA97C0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557" y="655320"/>
            <a:ext cx="6601730" cy="574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6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A6D4F-601C-86E3-130B-958196E3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0A23-E568-F465-EB1D-9D78DB36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13" y="3073866"/>
            <a:ext cx="3537007" cy="2495028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hoạt động chức năng quản lí Đơn hàng</a:t>
            </a:r>
            <a:br>
              <a:rPr lang="vi-VN" dirty="0">
                <a:latin typeface="+mn-lt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380B89-7769-A52E-A52A-421E312630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Hình ảnh 4" descr="Ảnh có chứa văn bản, biểu đồ, biên lai, Phông chữ&#10;&#10;Nội dung do AI tạo ra có thể không chính xác.">
            <a:extLst>
              <a:ext uri="{FF2B5EF4-FFF2-40B4-BE49-F238E27FC236}">
                <a16:creationId xmlns:a16="http://schemas.microsoft.com/office/drawing/2014/main" id="{AE95BA2B-9A1E-DEE7-0F1E-C23B7BE9F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243" y="1333212"/>
            <a:ext cx="6968844" cy="476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08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0FA3-3CDE-F386-1CF9-22763246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3D17-4113-13D1-01AA-8A91AAC0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dirty="0">
                <a:latin typeface="+mn-lt"/>
              </a:rPr>
              <a:t>Biểu đồ hoạt động chức năng quản lí SÁCH</a:t>
            </a:r>
            <a:endParaRPr lang="en-US" dirty="0">
              <a:latin typeface="+mn-lt"/>
            </a:endParaRPr>
          </a:p>
        </p:txBody>
      </p:sp>
      <p:pic>
        <p:nvPicPr>
          <p:cNvPr id="5" name="Hình ảnh 4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4CD3BF21-8F58-3B6C-5A16-666BB3204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51" b="2"/>
          <a:stretch>
            <a:fillRect/>
          </a:stretch>
        </p:blipFill>
        <p:spPr>
          <a:xfrm>
            <a:off x="3669898" y="2316067"/>
            <a:ext cx="5000630" cy="394855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39C7B-A6A7-9B9E-5182-EA5AABF1B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4B71-FED8-4B8F-05C6-B662573A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2538924"/>
            <a:ext cx="3932237" cy="1524662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+mn-lt"/>
              </a:rPr>
              <a:t>Class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09D3A-1649-B345-2689-02284C98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1100"/>
          </a:p>
        </p:txBody>
      </p:sp>
      <p:pic>
        <p:nvPicPr>
          <p:cNvPr id="5" name="Image 22" descr="A diagram of a computer&#10;&#10;AI-generated content may be incorrect.">
            <a:extLst>
              <a:ext uri="{FF2B5EF4-FFF2-40B4-BE49-F238E27FC236}">
                <a16:creationId xmlns:a16="http://schemas.microsoft.com/office/drawing/2014/main" id="{E62A3A80-E3C2-5C63-8B2A-4597A5C4B12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974672" y="741459"/>
            <a:ext cx="6038713" cy="5659342"/>
          </a:xfrm>
          <a:prstGeom prst="rect">
            <a:avLst/>
          </a:prstGeom>
          <a:noFill/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38F5420-C6E8-7E73-91D2-9402A383B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5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6EF6-3C3D-31BC-7C19-EDF4DD5A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r>
              <a:rPr lang="en-US" dirty="0" err="1">
                <a:latin typeface="+mn-lt"/>
              </a:rPr>
              <a:t>Biểu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đồ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tuần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chức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ký</a:t>
            </a:r>
            <a:endParaRPr lang="en-US" dirty="0">
              <a:latin typeface="+mn-lt"/>
            </a:endParaRPr>
          </a:p>
        </p:txBody>
      </p:sp>
      <p:pic>
        <p:nvPicPr>
          <p:cNvPr id="6" name="Image 15" descr="A diagram of a web site&#10;&#10;AI-generated content may be incorrect.">
            <a:extLst>
              <a:ext uri="{FF2B5EF4-FFF2-40B4-BE49-F238E27FC236}">
                <a16:creationId xmlns:a16="http://schemas.microsoft.com/office/drawing/2014/main" id="{785FB452-009E-0157-2652-58B79CA417F8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2946902" y="2316067"/>
            <a:ext cx="6446623" cy="394855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EDAB91-D03A-A002-564A-28CFE5DEA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81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DED9-C728-A93C-0A04-CD1F60581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latin typeface="+mn-lt"/>
              </a:rPr>
              <a:t>Biểu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đồ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tuần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chức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nhập</a:t>
            </a:r>
            <a:endParaRPr lang="en-US" dirty="0">
              <a:latin typeface="+mn-lt"/>
            </a:endParaRPr>
          </a:p>
        </p:txBody>
      </p:sp>
      <p:pic>
        <p:nvPicPr>
          <p:cNvPr id="5" name="Image 15" descr="A diagram of a web site&#10;&#10;AI-generated content may be incorrect.">
            <a:extLst>
              <a:ext uri="{FF2B5EF4-FFF2-40B4-BE49-F238E27FC236}">
                <a16:creationId xmlns:a16="http://schemas.microsoft.com/office/drawing/2014/main" id="{8CEEBD44-4786-2535-004C-05372110523E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588031" y="2303029"/>
            <a:ext cx="5710527" cy="349769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0FD0E-4000-CC3C-0A7D-BA3E265B3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6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02C1-2D22-EF99-0F34-DD81C3DA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Biểu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đồ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tuần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chức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xem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sản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phẩm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01EA7-9C59-94F2-A51B-5210C9269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Image 17" descr="A diagram of a data flow&#10;&#10;AI-generated content may be incorrect.">
            <a:extLst>
              <a:ext uri="{FF2B5EF4-FFF2-40B4-BE49-F238E27FC236}">
                <a16:creationId xmlns:a16="http://schemas.microsoft.com/office/drawing/2014/main" id="{F8BE5FEF-DA67-1857-A730-5C1DBCAE034C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2953042" y="2316163"/>
            <a:ext cx="6433553" cy="39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46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8616-864D-1D6E-F5A8-B83EF7239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800" dirty="0">
                <a:latin typeface="+mn-lt"/>
              </a:rPr>
              <a:t>Biểu đồ tuần tự chức năng quản lý giỏ hàng</a:t>
            </a:r>
            <a:br>
              <a:rPr lang="en-US" sz="2800" dirty="0">
                <a:latin typeface="+mn-lt"/>
              </a:rPr>
            </a:br>
            <a:endParaRPr lang="en-US" sz="2800" dirty="0">
              <a:latin typeface="+mn-lt"/>
            </a:endParaRPr>
          </a:p>
        </p:txBody>
      </p:sp>
      <p:pic>
        <p:nvPicPr>
          <p:cNvPr id="5" name="Image 18" descr="Ảnh có chứa văn bản, biểu đồ, hàng, số&#10;&#10;Nội dung do AI tạo ra có thể không chính xác.">
            <a:extLst>
              <a:ext uri="{FF2B5EF4-FFF2-40B4-BE49-F238E27FC236}">
                <a16:creationId xmlns:a16="http://schemas.microsoft.com/office/drawing/2014/main" id="{E316DCE3-8909-0C7E-343D-23327796F526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3178882" y="2316067"/>
            <a:ext cx="5982662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9ED66-45F7-22E6-78B8-E827D79F6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16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EE48-DF7D-F66B-6EE5-9BA324D4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500" dirty="0">
                <a:latin typeface="+mn-lt"/>
              </a:rPr>
              <a:t>Biểu đồ tuần tự chức năng quản lý người dùng</a:t>
            </a:r>
            <a:br>
              <a:rPr lang="en-US" sz="2500" dirty="0">
                <a:latin typeface="+mn-lt"/>
              </a:rPr>
            </a:br>
            <a:endParaRPr lang="en-US" sz="2500" dirty="0">
              <a:latin typeface="+mn-lt"/>
            </a:endParaRPr>
          </a:p>
        </p:txBody>
      </p:sp>
      <p:pic>
        <p:nvPicPr>
          <p:cNvPr id="5" name="Image 19" descr="Ảnh có chứa văn bản, biểu đồ, hàng, số&#10;&#10;Nội dung do AI tạo ra có thể không chính xác.">
            <a:extLst>
              <a:ext uri="{FF2B5EF4-FFF2-40B4-BE49-F238E27FC236}">
                <a16:creationId xmlns:a16="http://schemas.microsoft.com/office/drawing/2014/main" id="{5650566C-2594-D69F-627C-193AE97E8633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3156047" y="2316067"/>
            <a:ext cx="6028332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C501-8254-12E4-4D2B-9386091E5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4424-9E17-6E92-EE81-EECCF6D6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3100" dirty="0">
                <a:latin typeface="+mn-lt"/>
              </a:rPr>
              <a:t>Biểu đồ tuần tự chức năng quản lý sách</a:t>
            </a:r>
            <a:br>
              <a:rPr lang="en-US" sz="3100" dirty="0">
                <a:latin typeface="+mn-lt"/>
              </a:rPr>
            </a:br>
            <a:endParaRPr lang="en-US" sz="3100" dirty="0">
              <a:latin typeface="+mn-lt"/>
            </a:endParaRPr>
          </a:p>
        </p:txBody>
      </p:sp>
      <p:pic>
        <p:nvPicPr>
          <p:cNvPr id="5" name="Content Placeholder 4" descr="A diagram of a sequence diagram&#10;&#10;AI-generated content may be incorrect.">
            <a:extLst>
              <a:ext uri="{FF2B5EF4-FFF2-40B4-BE49-F238E27FC236}">
                <a16:creationId xmlns:a16="http://schemas.microsoft.com/office/drawing/2014/main" id="{308B4BD0-92CE-11B9-B540-0FB66B2B08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920324" y="2316067"/>
            <a:ext cx="4499779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8C461-7648-C989-EEAC-EFB31EB13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28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E5D0-99C0-B6E8-7BA9-83F86A11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800" dirty="0">
                <a:latin typeface="+mn-lt"/>
              </a:rPr>
              <a:t>Biểu đồ tuần tự chức năng Quản lý đơn hàng</a:t>
            </a:r>
            <a:br>
              <a:rPr lang="en-US" sz="2800" dirty="0">
                <a:latin typeface="+mn-lt"/>
              </a:rPr>
            </a:br>
            <a:endParaRPr lang="en-US" sz="2800" dirty="0">
              <a:latin typeface="+mn-lt"/>
            </a:endParaRPr>
          </a:p>
        </p:txBody>
      </p:sp>
      <p:pic>
        <p:nvPicPr>
          <p:cNvPr id="5" name="Content Placeholder 4" descr="A diagram with black text&#10;&#10;AI-generated content may be incorrect.">
            <a:extLst>
              <a:ext uri="{FF2B5EF4-FFF2-40B4-BE49-F238E27FC236}">
                <a16:creationId xmlns:a16="http://schemas.microsoft.com/office/drawing/2014/main" id="{1F29B837-CA05-547A-0676-D1422C4C078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747785" y="2316067"/>
            <a:ext cx="4844856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CFD00-CF56-1613-9601-AA07055666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52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AD59-9CF9-99F4-A8DC-3A7BE946D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1513389"/>
            <a:ext cx="6392421" cy="3831221"/>
          </a:xfrm>
        </p:spPr>
        <p:txBody>
          <a:bodyPr/>
          <a:lstStyle/>
          <a:p>
            <a:r>
              <a:rPr lang="vi-VN" dirty="0">
                <a:latin typeface="+mn-lt"/>
              </a:rPr>
              <a:t>Biểu đồ trạng thái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2832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75043-3D8D-9850-293E-F8315F6D7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r>
              <a:rPr lang="vi-VN" sz="3300" dirty="0">
                <a:latin typeface="+mn-lt"/>
              </a:rPr>
              <a:t>Biểu đồ trạng thái chức năng đăng ký</a:t>
            </a:r>
            <a:br>
              <a:rPr lang="en-US" sz="3300" dirty="0">
                <a:latin typeface="+mn-lt"/>
              </a:rPr>
            </a:br>
            <a:endParaRPr lang="en-US" sz="3300" dirty="0">
              <a:latin typeface="+mn-lt"/>
            </a:endParaRPr>
          </a:p>
        </p:txBody>
      </p:sp>
      <p:pic>
        <p:nvPicPr>
          <p:cNvPr id="5" name="Chỗ dành sẵn cho Nội dung 4" descr="Ảnh có chứa văn bản, biểu đồ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01025BF4-2213-815B-5807-68C1582A050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997" y="2316067"/>
            <a:ext cx="2576433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B9309-94FA-74DD-BCD2-33C6C5C6B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9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E346-1FAD-9155-2A74-D68AD5389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3100" dirty="0">
                <a:latin typeface="+mn-lt"/>
              </a:rPr>
              <a:t>Biểu đồ trạng thái chức năng đăng nhập </a:t>
            </a:r>
            <a:br>
              <a:rPr lang="en-US" sz="3100" dirty="0">
                <a:latin typeface="+mn-lt"/>
              </a:rPr>
            </a:br>
            <a:endParaRPr lang="en-US" sz="3100" dirty="0">
              <a:latin typeface="+mn-lt"/>
            </a:endParaRPr>
          </a:p>
        </p:txBody>
      </p:sp>
      <p:pic>
        <p:nvPicPr>
          <p:cNvPr id="5" name="Hình ảnh 5" descr="Ảnh có chứa văn bản, biểu đồ, hàng, Phông chữ&#10;&#10;Nội dung do AI tạo ra có thể không chính xác.">
            <a:extLst>
              <a:ext uri="{FF2B5EF4-FFF2-40B4-BE49-F238E27FC236}">
                <a16:creationId xmlns:a16="http://schemas.microsoft.com/office/drawing/2014/main" id="{BBDBDC6F-C23D-2DE9-C3BE-B5634A8E98E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527" y="2316067"/>
            <a:ext cx="3425372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A7128-B24C-2AF5-7D8D-45F2E61EB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26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6183-835E-11B0-F058-24AAA2DD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 anchor="ctr">
            <a:normAutofit/>
          </a:bodyPr>
          <a:lstStyle/>
          <a:p>
            <a:r>
              <a:rPr lang="vi-VN" dirty="0">
                <a:latin typeface="+mn-lt"/>
              </a:rPr>
              <a:t>Biểu đồ trạng thái chức năng xem và tìm kiếm sản phẩm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pic>
        <p:nvPicPr>
          <p:cNvPr id="7" name="Chỗ dành sẵn cho Hình ảnh 6" descr="Ảnh có chứa văn bản, biểu đồ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E74224E2-E570-DBD5-C706-B0181DF6E86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43345" y="538610"/>
            <a:ext cx="4344695" cy="5282304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D63E800-03E8-AD82-2B82-5A9F19E8C7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96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ACD6-737E-CBFB-6D51-4EA8068CD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500" dirty="0">
                <a:latin typeface="+mn-lt"/>
              </a:rPr>
              <a:t>Biểu đồ trạng thái chức năng quản lí giỏ hàng</a:t>
            </a:r>
            <a:br>
              <a:rPr lang="en-US" sz="2500" dirty="0"/>
            </a:br>
            <a:endParaRPr lang="en-US" sz="2500" dirty="0"/>
          </a:p>
        </p:txBody>
      </p:sp>
      <p:pic>
        <p:nvPicPr>
          <p:cNvPr id="4" name="Hình ảnh 7" descr="Ảnh có chứa văn bản, biểu đồ, hàng, bản đồ&#10;&#10;Nội dung do AI tạo ra có thể không chính xác.">
            <a:extLst>
              <a:ext uri="{FF2B5EF4-FFF2-40B4-BE49-F238E27FC236}">
                <a16:creationId xmlns:a16="http://schemas.microsoft.com/office/drawing/2014/main" id="{43B32DFC-FE11-DEA8-0B0D-0FB2CA320A6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11" y="2316067"/>
            <a:ext cx="8099605" cy="3948557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5CD3B6E-03E2-D9C7-F94A-64FE9A7DD1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22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87B7-868E-66E7-39E4-94119D70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800" dirty="0">
                <a:latin typeface="+mn-lt"/>
              </a:rPr>
              <a:t>Biểu đồ trạng thái chức năng quản lý sách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5" name="Content Placeholder 4" descr="A diagram of a state diagram&#10;&#10;AI-generated content may be incorrect.">
            <a:extLst>
              <a:ext uri="{FF2B5EF4-FFF2-40B4-BE49-F238E27FC236}">
                <a16:creationId xmlns:a16="http://schemas.microsoft.com/office/drawing/2014/main" id="{FBB20D4B-D2B1-1663-BDA7-D6EB0C87394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511253" y="2316067"/>
            <a:ext cx="5317921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CBB22-A305-624D-8121-1035AD2FA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27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76D7-5509-7EE0-5195-78718A36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500" dirty="0">
                <a:latin typeface="+mn-lt"/>
              </a:rPr>
              <a:t>Biểu đồ trạng thái chức năng quản lý đơn hàng</a:t>
            </a:r>
            <a:br>
              <a:rPr lang="en-US" sz="2500" dirty="0">
                <a:latin typeface="+mn-lt"/>
              </a:rPr>
            </a:br>
            <a:endParaRPr lang="en-US" sz="2500" dirty="0">
              <a:latin typeface="+mn-lt"/>
            </a:endParaRP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9484CD19-A749-4097-4969-23FD70E1688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99376" y="2316067"/>
            <a:ext cx="2941674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288DE-FE60-29E2-E196-58FCAB35C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78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362A-B636-B8CA-3345-6EF2C4FE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500" dirty="0">
                <a:latin typeface="+mn-lt"/>
              </a:rPr>
              <a:t>Biểu đồ trạng thái chức năng quản lý người dùng</a:t>
            </a:r>
            <a:br>
              <a:rPr lang="en-US" sz="2500" dirty="0">
                <a:latin typeface="+mn-lt"/>
              </a:rPr>
            </a:br>
            <a:endParaRPr lang="en-US" sz="2500" dirty="0">
              <a:latin typeface="+mn-lt"/>
            </a:endParaRPr>
          </a:p>
        </p:txBody>
      </p:sp>
      <p:pic>
        <p:nvPicPr>
          <p:cNvPr id="5" name="Hình ảnh 8" descr="Ảnh có chứa văn bản, biểu đồ, hàng, Phông chữ&#10;&#10;Nội dung do AI tạo ra có thể không chính xác.">
            <a:extLst>
              <a:ext uri="{FF2B5EF4-FFF2-40B4-BE49-F238E27FC236}">
                <a16:creationId xmlns:a16="http://schemas.microsoft.com/office/drawing/2014/main" id="{F5CF240E-B542-D340-BE7C-0B05901AEF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137" y="2316067"/>
            <a:ext cx="7346152" cy="394855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DD0DE-D412-7DD9-4920-F7CF25E11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3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9706-AF43-7175-7F7C-6AFD5D16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+mn-lt"/>
              </a:rPr>
              <a:t>MÔ HÌNH ERD HỆ THỐNG</a:t>
            </a:r>
          </a:p>
        </p:txBody>
      </p:sp>
      <p:pic>
        <p:nvPicPr>
          <p:cNvPr id="3" name="Picture Placeholder 2" descr="PlantUML Diagram">
            <a:extLst>
              <a:ext uri="{FF2B5EF4-FFF2-40B4-BE49-F238E27FC236}">
                <a16:creationId xmlns:a16="http://schemas.microsoft.com/office/drawing/2014/main" id="{C52DF310-B89D-24EA-656E-CB4BF1E92A7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" r="1" b="3007"/>
          <a:stretch>
            <a:fillRect/>
          </a:stretch>
        </p:blipFill>
        <p:spPr bwMode="auto">
          <a:xfrm>
            <a:off x="443345" y="10"/>
            <a:ext cx="4344695" cy="6359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698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F7BF-4CEA-B463-414D-6DE444D5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+mn-lt"/>
              </a:rPr>
              <a:t>Giao </a:t>
            </a:r>
            <a:r>
              <a:rPr lang="en-US" dirty="0" err="1">
                <a:latin typeface="+mn-lt"/>
              </a:rPr>
              <a:t>diện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ký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đăng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nhập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79D6-D03F-9F23-85CE-1CEC3B3BB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DC5A7-FFD6-85B4-0D72-0A355FD4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63" r="-4" b="10762"/>
          <a:stretch>
            <a:fillRect/>
          </a:stretch>
        </p:blipFill>
        <p:spPr>
          <a:xfrm>
            <a:off x="5144756" y="2549035"/>
            <a:ext cx="3283119" cy="3720337"/>
          </a:xfrm>
          <a:prstGeom prst="rect">
            <a:avLst/>
          </a:prstGeom>
          <a:noFill/>
        </p:spPr>
      </p:pic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92E6B23B-0E1E-E437-6A64-8F36023983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r="-4" b="14207"/>
          <a:stretch>
            <a:fillRect/>
          </a:stretch>
        </p:blipFill>
        <p:spPr>
          <a:xfrm>
            <a:off x="731697" y="2549034"/>
            <a:ext cx="3284951" cy="3720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4581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8B7F-3B92-B40B-8226-FD19DF58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65186"/>
            <a:ext cx="3647552" cy="1222385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Giao </a:t>
            </a:r>
            <a:r>
              <a:rPr lang="en-US" sz="2000" dirty="0" err="1">
                <a:latin typeface="+mn-lt"/>
              </a:rPr>
              <a:t>diện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trang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chủ</a:t>
            </a:r>
            <a:endParaRPr lang="en-US" sz="2000" dirty="0">
              <a:latin typeface="+mn-lt"/>
            </a:endParaRPr>
          </a:p>
        </p:txBody>
      </p:sp>
      <p:pic>
        <p:nvPicPr>
          <p:cNvPr id="6" name="Content Placeholder 5" descr="A screenshot of a book store&#10;&#10;AI-generated content may be incorrect.">
            <a:extLst>
              <a:ext uri="{FF2B5EF4-FFF2-40B4-BE49-F238E27FC236}">
                <a16:creationId xmlns:a16="http://schemas.microsoft.com/office/drawing/2014/main" id="{982BD5D5-6EB8-5D1B-0584-C60F81435A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47551" y="43394"/>
            <a:ext cx="5284603" cy="2539032"/>
          </a:xfrm>
          <a:prstGeom prst="rect">
            <a:avLst/>
          </a:prstGeo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5901BC-6B29-DED0-0B45-B9C97D5142B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640807" y="4275574"/>
            <a:ext cx="5277858" cy="25390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88D31AE-8710-962D-E408-3529EA1C6F33}"/>
              </a:ext>
            </a:extLst>
          </p:cNvPr>
          <p:cNvSpPr txBox="1">
            <a:spLocks/>
          </p:cNvSpPr>
          <p:nvPr/>
        </p:nvSpPr>
        <p:spPr>
          <a:xfrm>
            <a:off x="-6745" y="3664381"/>
            <a:ext cx="3647552" cy="122238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</a:rPr>
              <a:t>Giao </a:t>
            </a:r>
            <a:r>
              <a:rPr lang="en-US" sz="2000" dirty="0" err="1">
                <a:latin typeface="+mn-lt"/>
              </a:rPr>
              <a:t>diện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Quản lý đơn hàng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49887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{242ACC2B-B1FE-4717-B364-CE1EBD10BA76}TF8a9b5915-b8c7-461e-8cdd-693d48b5e32371f7b7e2_win32-4bf0b9a2ea37</Template>
  <TotalTime>67</TotalTime>
  <Words>309</Words>
  <Application>Microsoft Office PowerPoint</Application>
  <PresentationFormat>Màn hình rộng</PresentationFormat>
  <Paragraphs>59</Paragraphs>
  <Slides>33</Slides>
  <Notes>14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33</vt:i4>
      </vt:variant>
    </vt:vector>
  </HeadingPairs>
  <TitlesOfParts>
    <vt:vector size="38" baseType="lpstr">
      <vt:lpstr>Arial</vt:lpstr>
      <vt:lpstr>Arial Black</vt:lpstr>
      <vt:lpstr>Calibri</vt:lpstr>
      <vt:lpstr>Sabon Next LT</vt:lpstr>
      <vt:lpstr>Custom</vt:lpstr>
      <vt:lpstr>Phân tích và thiết kế phần mềm</vt:lpstr>
      <vt:lpstr>Sơ ĐỒ KIẾN TRÚC HỆ THỐNG </vt:lpstr>
      <vt:lpstr>Bản trình bày PowerPoint</vt:lpstr>
      <vt:lpstr>Sơ đồ Use Case  </vt:lpstr>
      <vt:lpstr>Sơ đồ Use Case tổng quan hệ thống </vt:lpstr>
      <vt:lpstr>Biểu đồ hoạt động </vt:lpstr>
      <vt:lpstr>Biểu đồ hoạt động chức năng đăng ký </vt:lpstr>
      <vt:lpstr>Biểu đồ hoạt động chức năng đăng Nhập </vt:lpstr>
      <vt:lpstr>Biểu đồ hoạt động chức năng đăng xuất </vt:lpstr>
      <vt:lpstr>Biểu đồ hoạt động chức năng xem và tìm kiếm sản phẩm </vt:lpstr>
      <vt:lpstr>Biểu đồ hoạt động quản lý giỏ hàng </vt:lpstr>
      <vt:lpstr>Biểu đồ hoạt động chức năng quản lí người dùng </vt:lpstr>
      <vt:lpstr>Biểu đồ hoạt động chức năng quản lí Đơn hàng </vt:lpstr>
      <vt:lpstr>Biểu đồ hoạt động chức năng quản lí SÁCH</vt:lpstr>
      <vt:lpstr>Class diagram</vt:lpstr>
      <vt:lpstr>Biểu đồ tuần tự chức năng đăng ký</vt:lpstr>
      <vt:lpstr>Biểu đồ tuần tự chức năng đăng nhập</vt:lpstr>
      <vt:lpstr>Biểu đồ tuần tự chức năng xem sản phẩm</vt:lpstr>
      <vt:lpstr>Biểu đồ tuần tự chức năng quản lý giỏ hàng </vt:lpstr>
      <vt:lpstr>Biểu đồ tuần tự chức năng quản lý người dùng </vt:lpstr>
      <vt:lpstr>Biểu đồ tuần tự chức năng quản lý sách </vt:lpstr>
      <vt:lpstr>Biểu đồ tuần tự chức năng Quản lý đơn hàng </vt:lpstr>
      <vt:lpstr>Biểu đồ trạng thái </vt:lpstr>
      <vt:lpstr>Biểu đồ trạng thái chức năng đăng ký </vt:lpstr>
      <vt:lpstr>Biểu đồ trạng thái chức năng đăng nhập  </vt:lpstr>
      <vt:lpstr>Biểu đồ trạng thái chức năng xem và tìm kiếm sản phẩm </vt:lpstr>
      <vt:lpstr>Biểu đồ trạng thái chức năng quản lí giỏ hàng </vt:lpstr>
      <vt:lpstr>Biểu đồ trạng thái chức năng quản lý sách </vt:lpstr>
      <vt:lpstr>Biểu đồ trạng thái chức năng quản lý đơn hàng </vt:lpstr>
      <vt:lpstr>Biểu đồ trạng thái chức năng quản lý người dùng </vt:lpstr>
      <vt:lpstr>MÔ HÌNH ERD HỆ THỐNG</vt:lpstr>
      <vt:lpstr>Giao diện Đăng ký đăng nhập</vt:lpstr>
      <vt:lpstr>Giao diện trang chủ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 Dương Kim</dc:creator>
  <cp:lastModifiedBy>Chi Dương Kim</cp:lastModifiedBy>
  <cp:revision>4</cp:revision>
  <dcterms:created xsi:type="dcterms:W3CDTF">2025-11-06T19:02:16Z</dcterms:created>
  <dcterms:modified xsi:type="dcterms:W3CDTF">2025-11-08T11:55:00Z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